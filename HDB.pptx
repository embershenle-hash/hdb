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2320"/>
    <p:restoredTop sz="94640"/>
  </p:normalViewPr>
  <p:slideViewPr>
    <p:cSldViewPr snapToGrid="0">
      <p:cViewPr varScale="1">
        <p:scale>
          <a:sx n="74" d="100"/>
          <a:sy n="74" d="100"/>
        </p:scale>
        <p:origin x="64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8C6EE-1F44-6647-A7C2-95387294FCDF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408B9-43FC-1D47-954F-1E9F4DD4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9458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8C6EE-1F44-6647-A7C2-95387294FCDF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408B9-43FC-1D47-954F-1E9F4DD4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468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8C6EE-1F44-6647-A7C2-95387294FCDF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408B9-43FC-1D47-954F-1E9F4DD4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4793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8C6EE-1F44-6647-A7C2-95387294FCDF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408B9-43FC-1D47-954F-1E9F4DD4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6291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8C6EE-1F44-6647-A7C2-95387294FCDF}" type="datetimeFigureOut">
              <a:rPr lang="en-US" smtClean="0"/>
              <a:t>9/15/26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408B9-43FC-1D47-954F-1E9F4DD4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318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8C6EE-1F44-6647-A7C2-95387294FCDF}" type="datetimeFigureOut">
              <a:rPr lang="en-US" smtClean="0"/>
              <a:t>9/15/26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408B9-43FC-1D47-954F-1E9F4DD4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349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8C6EE-1F44-6647-A7C2-95387294FCDF}" type="datetimeFigureOut">
              <a:rPr lang="en-US" smtClean="0"/>
              <a:t>9/15/26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408B9-43FC-1D47-954F-1E9F4DD4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588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8C6EE-1F44-6647-A7C2-95387294FCDF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408B9-43FC-1D47-954F-1E9F4DD4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9928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8C6EE-1F44-6647-A7C2-95387294FCDF}" type="datetimeFigureOut">
              <a:rPr lang="en-US" smtClean="0"/>
              <a:t>9/15/26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408B9-43FC-1D47-954F-1E9F4DD4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10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8C6EE-1F44-6647-A7C2-95387294FCDF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408B9-43FC-1D47-954F-1E9F4DD4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1176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E8C6EE-1F44-6647-A7C2-95387294FCDF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408B9-43FC-1D47-954F-1E9F4DD4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1176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E8C6EE-1F44-6647-A7C2-95387294FCDF}" type="datetimeFigureOut">
              <a:rPr lang="en-US" smtClean="0"/>
              <a:t>9/15/26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8408B9-43FC-1D47-954F-1E9F4DD4B3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627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644C54-F889-6355-0804-4FD288489F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SG" i="1" dirty="0"/>
              <a:t>HDB Technical Test for Senior Data Engineer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4BE1E09-B7DC-637E-E138-9946ACAD2B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Shen Le</a:t>
            </a:r>
          </a:p>
        </p:txBody>
      </p:sp>
    </p:spTree>
    <p:extLst>
      <p:ext uri="{BB962C8B-B14F-4D97-AF65-F5344CB8AC3E}">
        <p14:creationId xmlns:p14="http://schemas.microsoft.com/office/powerpoint/2010/main" val="3166007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372BF-79AA-3665-3B8A-9005DB627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SG" i="1" dirty="0"/>
              <a:t>Part 2: Architecting Data Ingestion and Data Exploitation Solution Patterns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4DE06AB-6B26-C701-A3C3-1EECF43E37C0}"/>
              </a:ext>
            </a:extLst>
          </p:cNvPr>
          <p:cNvSpPr/>
          <p:nvPr/>
        </p:nvSpPr>
        <p:spPr>
          <a:xfrm>
            <a:off x="471487" y="2206157"/>
            <a:ext cx="3366654" cy="2359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 err="1">
                <a:solidFill>
                  <a:schemeClr val="tx1"/>
                </a:solidFill>
              </a:rPr>
              <a:t>Data.gov.sg</a:t>
            </a:r>
            <a:r>
              <a:rPr lang="en-US" sz="1013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6AF150B-D870-F897-EF18-D91B03863C69}"/>
              </a:ext>
            </a:extLst>
          </p:cNvPr>
          <p:cNvSpPr/>
          <p:nvPr/>
        </p:nvSpPr>
        <p:spPr>
          <a:xfrm>
            <a:off x="471486" y="2715837"/>
            <a:ext cx="3366654" cy="461188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>
                <a:solidFill>
                  <a:schemeClr val="tx1"/>
                </a:solidFill>
              </a:rPr>
              <a:t>HDB Data Platform VPC</a:t>
            </a:r>
          </a:p>
          <a:p>
            <a:pPr algn="ctr"/>
            <a:endParaRPr lang="en-US" sz="1013" dirty="0">
              <a:solidFill>
                <a:schemeClr val="tx1"/>
              </a:solidFill>
            </a:endParaRPr>
          </a:p>
          <a:p>
            <a:pPr algn="ctr"/>
            <a:endParaRPr lang="en-US" sz="1013" dirty="0">
              <a:solidFill>
                <a:schemeClr val="tx1"/>
              </a:solidFill>
            </a:endParaRPr>
          </a:p>
          <a:p>
            <a:pPr algn="ctr"/>
            <a:endParaRPr lang="en-US" sz="1013" dirty="0">
              <a:solidFill>
                <a:schemeClr val="tx1"/>
              </a:solidFill>
            </a:endParaRPr>
          </a:p>
          <a:p>
            <a:pPr algn="ctr"/>
            <a:endParaRPr lang="en-US" sz="1013" dirty="0">
              <a:solidFill>
                <a:schemeClr val="tx1"/>
              </a:solidFill>
            </a:endParaRPr>
          </a:p>
          <a:p>
            <a:pPr algn="ctr"/>
            <a:endParaRPr lang="en-US" sz="1013" dirty="0">
              <a:solidFill>
                <a:schemeClr val="tx1"/>
              </a:solidFill>
            </a:endParaRPr>
          </a:p>
          <a:p>
            <a:pPr algn="ctr"/>
            <a:endParaRPr lang="en-US" sz="1013" dirty="0">
              <a:solidFill>
                <a:schemeClr val="tx1"/>
              </a:solidFill>
            </a:endParaRPr>
          </a:p>
          <a:p>
            <a:pPr algn="ctr"/>
            <a:endParaRPr lang="en-US" sz="1013" dirty="0">
              <a:solidFill>
                <a:schemeClr val="tx1"/>
              </a:solidFill>
            </a:endParaRPr>
          </a:p>
          <a:p>
            <a:pPr algn="ctr"/>
            <a:endParaRPr lang="en-US" sz="1013" dirty="0">
              <a:solidFill>
                <a:schemeClr val="tx1"/>
              </a:solidFill>
            </a:endParaRPr>
          </a:p>
          <a:p>
            <a:pPr algn="ctr"/>
            <a:endParaRPr lang="en-US" sz="1013" dirty="0">
              <a:solidFill>
                <a:schemeClr val="tx1"/>
              </a:solidFill>
            </a:endParaRPr>
          </a:p>
          <a:p>
            <a:pPr algn="ctr"/>
            <a:endParaRPr lang="en-US" sz="1013" dirty="0">
              <a:solidFill>
                <a:schemeClr val="tx1"/>
              </a:solidFill>
            </a:endParaRPr>
          </a:p>
          <a:p>
            <a:pPr algn="ctr"/>
            <a:endParaRPr lang="en-US" sz="1013" dirty="0">
              <a:solidFill>
                <a:schemeClr val="tx1"/>
              </a:solidFill>
            </a:endParaRPr>
          </a:p>
          <a:p>
            <a:pPr algn="ctr"/>
            <a:endParaRPr lang="en-US" sz="1013" dirty="0">
              <a:solidFill>
                <a:schemeClr val="tx1"/>
              </a:solidFill>
            </a:endParaRPr>
          </a:p>
          <a:p>
            <a:pPr algn="ctr"/>
            <a:endParaRPr lang="en-US" sz="1013" dirty="0">
              <a:solidFill>
                <a:schemeClr val="tx1"/>
              </a:solidFill>
            </a:endParaRPr>
          </a:p>
          <a:p>
            <a:pPr algn="ctr"/>
            <a:endParaRPr lang="en-US" sz="1013" dirty="0">
              <a:solidFill>
                <a:schemeClr val="tx1"/>
              </a:solidFill>
            </a:endParaRPr>
          </a:p>
          <a:p>
            <a:pPr algn="ctr"/>
            <a:endParaRPr lang="en-US" sz="1013" dirty="0">
              <a:solidFill>
                <a:schemeClr val="tx1"/>
              </a:solidFill>
            </a:endParaRPr>
          </a:p>
          <a:p>
            <a:pPr algn="ctr"/>
            <a:endParaRPr lang="en-US" sz="1013" dirty="0">
              <a:solidFill>
                <a:schemeClr val="tx1"/>
              </a:solidFill>
            </a:endParaRPr>
          </a:p>
          <a:p>
            <a:pPr algn="ctr"/>
            <a:endParaRPr lang="en-US" sz="1013" dirty="0">
              <a:solidFill>
                <a:schemeClr val="tx1"/>
              </a:solidFill>
            </a:endParaRPr>
          </a:p>
          <a:p>
            <a:pPr algn="ctr"/>
            <a:endParaRPr lang="en-US" sz="1013" dirty="0">
              <a:solidFill>
                <a:schemeClr val="tx1"/>
              </a:solidFill>
            </a:endParaRPr>
          </a:p>
          <a:p>
            <a:pPr algn="ctr"/>
            <a:endParaRPr lang="en-US" sz="1013" dirty="0">
              <a:solidFill>
                <a:schemeClr val="tx1"/>
              </a:solidFill>
            </a:endParaRPr>
          </a:p>
          <a:p>
            <a:pPr algn="ctr"/>
            <a:endParaRPr lang="en-US" sz="1013" dirty="0">
              <a:solidFill>
                <a:schemeClr val="tx1"/>
              </a:solidFill>
            </a:endParaRPr>
          </a:p>
          <a:p>
            <a:pPr algn="ctr"/>
            <a:endParaRPr lang="en-US" sz="1013" dirty="0">
              <a:solidFill>
                <a:schemeClr val="tx1"/>
              </a:solidFill>
            </a:endParaRPr>
          </a:p>
          <a:p>
            <a:pPr algn="ctr"/>
            <a:endParaRPr lang="en-US" sz="1013" dirty="0">
              <a:solidFill>
                <a:schemeClr val="tx1"/>
              </a:solidFill>
            </a:endParaRPr>
          </a:p>
          <a:p>
            <a:pPr algn="ctr"/>
            <a:endParaRPr lang="en-US" sz="1013" dirty="0">
              <a:solidFill>
                <a:schemeClr val="tx1"/>
              </a:solidFill>
            </a:endParaRPr>
          </a:p>
          <a:p>
            <a:pPr algn="ctr"/>
            <a:endParaRPr lang="en-US" sz="1013" dirty="0">
              <a:solidFill>
                <a:schemeClr val="tx1"/>
              </a:solidFill>
            </a:endParaRPr>
          </a:p>
          <a:p>
            <a:pPr algn="ctr"/>
            <a:endParaRPr lang="en-US" sz="1013" dirty="0">
              <a:solidFill>
                <a:schemeClr val="tx1"/>
              </a:solidFill>
            </a:endParaRPr>
          </a:p>
          <a:p>
            <a:pPr algn="ctr"/>
            <a:endParaRPr lang="en-US" sz="1013" dirty="0">
              <a:solidFill>
                <a:schemeClr val="tx1"/>
              </a:solidFill>
            </a:endParaRPr>
          </a:p>
          <a:p>
            <a:pPr algn="ctr"/>
            <a:endParaRPr lang="en-US" sz="1013" dirty="0">
              <a:solidFill>
                <a:schemeClr val="tx1"/>
              </a:solidFill>
            </a:endParaRPr>
          </a:p>
          <a:p>
            <a:pPr algn="ctr"/>
            <a:endParaRPr lang="en-US" sz="1013" dirty="0">
              <a:solidFill>
                <a:schemeClr val="tx1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67B3CE6-3597-3D13-A64A-5AADD14E63B8}"/>
              </a:ext>
            </a:extLst>
          </p:cNvPr>
          <p:cNvCxnSpPr>
            <a:cxnSpLocks/>
            <a:stCxn id="8" idx="2"/>
            <a:endCxn id="12" idx="0"/>
          </p:cNvCxnSpPr>
          <p:nvPr/>
        </p:nvCxnSpPr>
        <p:spPr>
          <a:xfrm flipH="1">
            <a:off x="2154813" y="2442107"/>
            <a:ext cx="1" cy="2737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EBC3D970-FD59-0F00-6408-5F66F7704523}"/>
              </a:ext>
            </a:extLst>
          </p:cNvPr>
          <p:cNvSpPr txBox="1"/>
          <p:nvPr/>
        </p:nvSpPr>
        <p:spPr>
          <a:xfrm>
            <a:off x="2267729" y="2442107"/>
            <a:ext cx="120674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dirty="0"/>
              <a:t>HTTPS (outbound)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D526FE-3771-9181-D3D1-647217CBFC45}"/>
              </a:ext>
            </a:extLst>
          </p:cNvPr>
          <p:cNvSpPr/>
          <p:nvPr/>
        </p:nvSpPr>
        <p:spPr>
          <a:xfrm>
            <a:off x="714632" y="2997564"/>
            <a:ext cx="2880360" cy="33065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>
                <a:solidFill>
                  <a:schemeClr val="tx1"/>
                </a:solidFill>
              </a:rPr>
              <a:t>Ingestion</a:t>
            </a:r>
          </a:p>
          <a:p>
            <a:pPr algn="ctr"/>
            <a:r>
              <a:rPr lang="en-US" sz="1013" dirty="0" err="1">
                <a:solidFill>
                  <a:schemeClr val="tx1"/>
                </a:solidFill>
              </a:rPr>
              <a:t>EventBridge</a:t>
            </a:r>
            <a:r>
              <a:rPr lang="en-US" sz="1013" dirty="0">
                <a:solidFill>
                  <a:schemeClr val="tx1"/>
                </a:solidFill>
              </a:rPr>
              <a:t>-&gt;Step Functions-&gt;Lambda/Glue Job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99B922D-B654-5F97-6C94-18AD8B4ACC16}"/>
              </a:ext>
            </a:extLst>
          </p:cNvPr>
          <p:cNvSpPr/>
          <p:nvPr/>
        </p:nvSpPr>
        <p:spPr>
          <a:xfrm>
            <a:off x="714632" y="3431492"/>
            <a:ext cx="2880360" cy="5009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>
                <a:solidFill>
                  <a:schemeClr val="tx1"/>
                </a:solidFill>
              </a:rPr>
              <a:t>Storage</a:t>
            </a:r>
          </a:p>
          <a:p>
            <a:pPr algn="ctr"/>
            <a:r>
              <a:rPr lang="en-US" sz="1013" dirty="0">
                <a:solidFill>
                  <a:schemeClr val="tx1"/>
                </a:solidFill>
              </a:rPr>
              <a:t>S3 Raw, S3 Cleaned, S3 Transformed, S3 Quarantined, S3 Hashed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7D1DBD8-DFB5-873C-23CD-39A2FC658893}"/>
              </a:ext>
            </a:extLst>
          </p:cNvPr>
          <p:cNvSpPr/>
          <p:nvPr/>
        </p:nvSpPr>
        <p:spPr>
          <a:xfrm>
            <a:off x="714632" y="4035760"/>
            <a:ext cx="2880360" cy="71160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>
                <a:solidFill>
                  <a:schemeClr val="tx1"/>
                </a:solidFill>
              </a:rPr>
              <a:t>Processing</a:t>
            </a:r>
          </a:p>
          <a:p>
            <a:pPr algn="ctr"/>
            <a:r>
              <a:rPr lang="en-US" sz="1013" dirty="0">
                <a:solidFill>
                  <a:schemeClr val="tx1"/>
                </a:solidFill>
              </a:rPr>
              <a:t>Glue Crawler-&gt;Glue Data Catalog</a:t>
            </a:r>
          </a:p>
          <a:p>
            <a:pPr algn="ctr"/>
            <a:r>
              <a:rPr lang="en-US" sz="1013" dirty="0">
                <a:solidFill>
                  <a:schemeClr val="tx1"/>
                </a:solidFill>
              </a:rPr>
              <a:t>Glue Data Quality</a:t>
            </a:r>
          </a:p>
          <a:p>
            <a:pPr algn="ctr"/>
            <a:r>
              <a:rPr lang="en-US" sz="1013" dirty="0">
                <a:solidFill>
                  <a:schemeClr val="tx1"/>
                </a:solidFill>
              </a:rPr>
              <a:t>Glue ETL Job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DF0F6B-1D3C-0BF1-EA0B-6DB0C7C49E62}"/>
              </a:ext>
            </a:extLst>
          </p:cNvPr>
          <p:cNvSpPr/>
          <p:nvPr/>
        </p:nvSpPr>
        <p:spPr>
          <a:xfrm>
            <a:off x="714632" y="4850639"/>
            <a:ext cx="2880360" cy="5009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>
                <a:solidFill>
                  <a:schemeClr val="tx1"/>
                </a:solidFill>
              </a:rPr>
              <a:t>Query</a:t>
            </a:r>
          </a:p>
          <a:p>
            <a:pPr algn="ctr"/>
            <a:r>
              <a:rPr lang="en-US" sz="1013" dirty="0">
                <a:solidFill>
                  <a:schemeClr val="tx1"/>
                </a:solidFill>
              </a:rPr>
              <a:t>Athena&lt;-Glue Data Catalog</a:t>
            </a:r>
          </a:p>
          <a:p>
            <a:pPr algn="ctr"/>
            <a:r>
              <a:rPr lang="en-US" sz="1013" dirty="0">
                <a:solidFill>
                  <a:schemeClr val="tx1"/>
                </a:solidFill>
              </a:rPr>
              <a:t>Lake Formation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1448498-C1CF-A36D-C6B2-21345E438D84}"/>
              </a:ext>
            </a:extLst>
          </p:cNvPr>
          <p:cNvSpPr/>
          <p:nvPr/>
        </p:nvSpPr>
        <p:spPr>
          <a:xfrm>
            <a:off x="714632" y="5472523"/>
            <a:ext cx="2880360" cy="5009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>
                <a:solidFill>
                  <a:schemeClr val="tx1"/>
                </a:solidFill>
              </a:rPr>
              <a:t>Networking</a:t>
            </a:r>
          </a:p>
          <a:p>
            <a:pPr algn="ctr"/>
            <a:r>
              <a:rPr lang="en-US" sz="1013" dirty="0">
                <a:solidFill>
                  <a:schemeClr val="tx1"/>
                </a:solidFill>
              </a:rPr>
              <a:t>NAT Gateway, VPC Endpoints, </a:t>
            </a:r>
            <a:r>
              <a:rPr lang="en-US" sz="1013" dirty="0" err="1">
                <a:solidFill>
                  <a:schemeClr val="tx1"/>
                </a:solidFill>
              </a:rPr>
              <a:t>PrivateLink</a:t>
            </a:r>
            <a:endParaRPr lang="en-US" sz="1013" dirty="0">
              <a:solidFill>
                <a:schemeClr val="tx1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1C56CD-B0E9-E320-E20E-84914BA3AF05}"/>
              </a:ext>
            </a:extLst>
          </p:cNvPr>
          <p:cNvSpPr/>
          <p:nvPr/>
        </p:nvSpPr>
        <p:spPr>
          <a:xfrm>
            <a:off x="714632" y="6076791"/>
            <a:ext cx="2880360" cy="5009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>
                <a:solidFill>
                  <a:schemeClr val="tx1"/>
                </a:solidFill>
              </a:rPr>
              <a:t>Security</a:t>
            </a:r>
          </a:p>
          <a:p>
            <a:pPr algn="ctr"/>
            <a:r>
              <a:rPr lang="en-US" sz="1013" dirty="0">
                <a:solidFill>
                  <a:schemeClr val="tx1"/>
                </a:solidFill>
              </a:rPr>
              <a:t>IAM, KMS, GuardDuty, Security Hub, CloudTrail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B4222CF6-E975-FA9D-8E1E-EBF92E788447}"/>
              </a:ext>
            </a:extLst>
          </p:cNvPr>
          <p:cNvSpPr/>
          <p:nvPr/>
        </p:nvSpPr>
        <p:spPr>
          <a:xfrm>
            <a:off x="714632" y="6681059"/>
            <a:ext cx="2880360" cy="50099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>
                <a:solidFill>
                  <a:schemeClr val="tx1"/>
                </a:solidFill>
              </a:rPr>
              <a:t>Observability</a:t>
            </a:r>
          </a:p>
          <a:p>
            <a:pPr algn="ctr"/>
            <a:r>
              <a:rPr lang="en-US" sz="1013" dirty="0">
                <a:solidFill>
                  <a:schemeClr val="tx1"/>
                </a:solidFill>
              </a:rPr>
              <a:t>CloudWatch, SNS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6056ADB-0A8E-C6F0-A64C-ED0EE0A23F36}"/>
              </a:ext>
            </a:extLst>
          </p:cNvPr>
          <p:cNvSpPr/>
          <p:nvPr/>
        </p:nvSpPr>
        <p:spPr>
          <a:xfrm>
            <a:off x="471486" y="7609452"/>
            <a:ext cx="3366654" cy="4447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13" dirty="0">
                <a:solidFill>
                  <a:schemeClr val="tx1"/>
                </a:solidFill>
              </a:rPr>
              <a:t>Data Science VPC</a:t>
            </a:r>
          </a:p>
          <a:p>
            <a:pPr algn="ctr"/>
            <a:r>
              <a:rPr lang="en-US" sz="1013" dirty="0">
                <a:solidFill>
                  <a:schemeClr val="tx1"/>
                </a:solidFill>
              </a:rPr>
              <a:t>Tableau Server-&gt;Athena Driver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D1CDB37-DA8D-7C88-E333-00B7C3CAD81F}"/>
              </a:ext>
            </a:extLst>
          </p:cNvPr>
          <p:cNvCxnSpPr>
            <a:cxnSpLocks/>
          </p:cNvCxnSpPr>
          <p:nvPr/>
        </p:nvCxnSpPr>
        <p:spPr>
          <a:xfrm flipH="1">
            <a:off x="2096946" y="7327726"/>
            <a:ext cx="1" cy="2737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6C7052E6-8DD5-7365-F673-2F3C3103DA0A}"/>
              </a:ext>
            </a:extLst>
          </p:cNvPr>
          <p:cNvSpPr txBox="1"/>
          <p:nvPr/>
        </p:nvSpPr>
        <p:spPr>
          <a:xfrm>
            <a:off x="2209862" y="7327726"/>
            <a:ext cx="1206744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13" dirty="0" err="1"/>
              <a:t>PrivateLink</a:t>
            </a:r>
            <a:endParaRPr lang="en-US" sz="1013" dirty="0"/>
          </a:p>
        </p:txBody>
      </p:sp>
    </p:spTree>
    <p:extLst>
      <p:ext uri="{BB962C8B-B14F-4D97-AF65-F5344CB8AC3E}">
        <p14:creationId xmlns:p14="http://schemas.microsoft.com/office/powerpoint/2010/main" val="4138242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41CA3-0D2F-E519-9295-1993A0F8C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DBC39-7A31-3180-BDA4-974914BC50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9322" indent="-289322">
              <a:buFont typeface="+mj-lt"/>
              <a:buAutoNum type="arabicPeriod"/>
            </a:pPr>
            <a:r>
              <a:rPr lang="en-SG" dirty="0"/>
              <a:t>Data Source and Scope</a:t>
            </a:r>
          </a:p>
          <a:p>
            <a:pPr marL="546497" lvl="1" indent="-289322">
              <a:buFont typeface="+mj-lt"/>
              <a:buAutoNum type="alphaLcPeriod"/>
            </a:pPr>
            <a:r>
              <a:rPr lang="en-SG" dirty="0"/>
              <a:t>The dataset is HDB Resale Flat Prices from </a:t>
            </a:r>
            <a:r>
              <a:rPr lang="en-SG" dirty="0" err="1"/>
              <a:t>data.gov.sg</a:t>
            </a:r>
            <a:r>
              <a:rPr lang="en-SG" dirty="0"/>
              <a:t>.</a:t>
            </a:r>
          </a:p>
          <a:p>
            <a:pPr marL="546497" lvl="1" indent="-289322">
              <a:buFont typeface="+mj-lt"/>
              <a:buAutoNum type="alphaLcPeriod"/>
            </a:pPr>
            <a:r>
              <a:rPr lang="en-SG" dirty="0"/>
              <a:t>Source files are CSV, each potentially larger than 100 MB.</a:t>
            </a:r>
          </a:p>
          <a:p>
            <a:pPr marL="546497" lvl="1" indent="-289322">
              <a:buFont typeface="+mj-lt"/>
              <a:buAutoNum type="alphaLcPeriod"/>
            </a:pPr>
            <a:r>
              <a:rPr lang="en-SG" dirty="0"/>
              <a:t>The pipeline is designed to accommodate additional datasets from the same collection by adding an S3 prefix per dataset — no structural change required.</a:t>
            </a:r>
          </a:p>
          <a:p>
            <a:pPr marL="289322" indent="-289322">
              <a:buFont typeface="+mj-lt"/>
              <a:buAutoNum type="arabicPeriod"/>
            </a:pPr>
            <a:r>
              <a:rPr lang="en-SG" dirty="0"/>
              <a:t>Ingestion</a:t>
            </a:r>
          </a:p>
          <a:p>
            <a:pPr marL="546497" lvl="1" indent="-289322">
              <a:buFont typeface="+mj-lt"/>
              <a:buAutoNum type="alphaLcPeriod"/>
            </a:pPr>
            <a:r>
              <a:rPr lang="en-SG" dirty="0"/>
              <a:t>Amazon </a:t>
            </a:r>
            <a:r>
              <a:rPr lang="en-SG" dirty="0" err="1"/>
              <a:t>EventBridge</a:t>
            </a:r>
            <a:r>
              <a:rPr lang="en-SG" dirty="0"/>
              <a:t> schedules ingestion to run daily at 02:00 SGT, triggering a Step Functions state machine.</a:t>
            </a:r>
          </a:p>
          <a:p>
            <a:pPr marL="546497" lvl="1" indent="-289322">
              <a:buFont typeface="+mj-lt"/>
              <a:buAutoNum type="alphaLcPeriod"/>
            </a:pPr>
            <a:r>
              <a:rPr lang="en-SG" dirty="0"/>
              <a:t>A Lambda or Glue job downloads the CSVs from </a:t>
            </a:r>
            <a:r>
              <a:rPr lang="en-SG" dirty="0" err="1"/>
              <a:t>data.gov.sg</a:t>
            </a:r>
            <a:r>
              <a:rPr lang="en-SG" dirty="0"/>
              <a:t> over HTTPS and writes them to the S3 Raw bucket.</a:t>
            </a:r>
          </a:p>
          <a:p>
            <a:pPr marL="546497" lvl="1" indent="-289322">
              <a:buFont typeface="+mj-lt"/>
              <a:buAutoNum type="alphaLcPeriod"/>
            </a:pPr>
            <a:r>
              <a:rPr lang="en-SG" dirty="0"/>
              <a:t>AWS Glue is used for ETL processing — it provides serverless Spark, handles files of arbitrary size without the 15-minute execution limit that constrains Lambda, and supports parallel processing.</a:t>
            </a:r>
          </a:p>
          <a:p>
            <a:pPr marL="546497" lvl="1" indent="-289322">
              <a:buFont typeface="+mj-lt"/>
              <a:buAutoNum type="alphaLcPeriod"/>
            </a:pPr>
            <a:endParaRPr lang="en-SG" dirty="0"/>
          </a:p>
          <a:p>
            <a:pPr marL="546497" lvl="1" indent="-289322">
              <a:buFont typeface="+mj-lt"/>
              <a:buAutoNum type="alphaL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57107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7AE541A2-8CB0-A60A-0575-7E9FB35C9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9219CA-D405-FE26-DC42-8DEEC191E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9322" indent="-289322">
              <a:buFont typeface="+mj-lt"/>
              <a:buAutoNum type="arabicPeriod" startAt="3"/>
            </a:pPr>
            <a:r>
              <a:rPr lang="en-SG" dirty="0"/>
              <a:t>Data Quality and Cataloguing</a:t>
            </a:r>
          </a:p>
          <a:p>
            <a:pPr marL="546497" lvl="1" indent="-289322">
              <a:buFont typeface="+mj-lt"/>
              <a:buAutoNum type="alphaLcPeriod"/>
            </a:pPr>
            <a:r>
              <a:rPr lang="en-SG" dirty="0"/>
              <a:t>AWS Glue Data Quality validates the ingested data against declarative rules (completeness, uniqueness, allowed values). Failed checks route records to the Quarantined bucket and raise an SNS alert.</a:t>
            </a:r>
          </a:p>
          <a:p>
            <a:pPr marL="546497" lvl="1" indent="-289322">
              <a:buFont typeface="+mj-lt"/>
              <a:buAutoNum type="alphaLcPeriod"/>
            </a:pPr>
            <a:r>
              <a:rPr lang="en-SG" dirty="0"/>
              <a:t>AWS Glue Crawler scans S3 prefixes and populates the AWS Glue Data </a:t>
            </a:r>
            <a:r>
              <a:rPr lang="en-SG" dirty="0" err="1"/>
              <a:t>Catalog</a:t>
            </a:r>
            <a:r>
              <a:rPr lang="en-SG" dirty="0"/>
              <a:t> with schema and partition metadata, avoiding manual table definitions.</a:t>
            </a:r>
          </a:p>
          <a:p>
            <a:pPr marL="546497" lvl="1" indent="-289322">
              <a:buFont typeface="+mj-lt"/>
              <a:buAutoNum type="alphaLcPeriod"/>
            </a:pPr>
            <a:r>
              <a:rPr lang="en-SG" dirty="0"/>
              <a:t>AWS Glue Data </a:t>
            </a:r>
            <a:r>
              <a:rPr lang="en-SG" dirty="0" err="1"/>
              <a:t>Catalog</a:t>
            </a:r>
            <a:r>
              <a:rPr lang="en-SG" dirty="0"/>
              <a:t> provides consistent metadata management and enables dataset discovery for the Data Science team.</a:t>
            </a:r>
          </a:p>
          <a:p>
            <a:pPr marL="289322" indent="-289322">
              <a:buFont typeface="+mj-lt"/>
              <a:buAutoNum type="arabicPeriod" startAt="3"/>
            </a:pPr>
            <a:r>
              <a:rPr lang="en-SG" dirty="0"/>
              <a:t>Storage</a:t>
            </a:r>
          </a:p>
          <a:p>
            <a:pPr marL="546497" lvl="1" indent="-289322">
              <a:buFont typeface="+mj-lt"/>
              <a:buAutoNum type="alphaLcPeriod"/>
            </a:pPr>
            <a:r>
              <a:rPr lang="en-SG" dirty="0"/>
              <a:t>Amazon S3 stores all data. Separate prefixes provide clear stage </a:t>
            </a:r>
            <a:r>
              <a:rPr lang="en-SG" dirty="0" err="1"/>
              <a:t>separation:`raw</a:t>
            </a:r>
            <a:r>
              <a:rPr lang="en-SG" dirty="0"/>
              <a:t>/`, `cleaned/`, `transformed/`, `quarantined/`, `hashed/`.</a:t>
            </a:r>
          </a:p>
          <a:p>
            <a:pPr marL="546497" lvl="1" indent="-289322">
              <a:buFont typeface="+mj-lt"/>
              <a:buAutoNum type="alphaLcPeriod"/>
            </a:pPr>
            <a:r>
              <a:rPr lang="en-SG" dirty="0"/>
              <a:t>Processed data is stored in Parquet format, partitioned by `year/month`, to reduce Athena scan costs and improve query performance.</a:t>
            </a:r>
          </a:p>
          <a:p>
            <a:pPr marL="546497" lvl="1" indent="-289322">
              <a:buFont typeface="+mj-lt"/>
              <a:buAutoNum type="alphaLcPeriod"/>
            </a:pPr>
            <a:endParaRPr lang="en-SG" dirty="0"/>
          </a:p>
          <a:p>
            <a:pPr marL="546497" lvl="1" indent="-289322">
              <a:buFont typeface="+mj-lt"/>
              <a:buAutoNum type="alphaLcPeriod"/>
            </a:pPr>
            <a:endParaRPr lang="en-SG" dirty="0"/>
          </a:p>
          <a:p>
            <a:pPr marL="289322" indent="-289322">
              <a:buFont typeface="+mj-lt"/>
              <a:buAutoNum type="arabicPeriod" startAt="3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0239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06BC8-699D-B032-5772-8AE1E94AB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94EA7-8EA3-AA2B-C4E6-650CEEBC88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9322" indent="-289322">
              <a:buFont typeface="+mj-lt"/>
              <a:buAutoNum type="arabicPeriod" startAt="5"/>
            </a:pPr>
            <a:r>
              <a:rPr lang="en-US" dirty="0"/>
              <a:t>Orchestration</a:t>
            </a:r>
          </a:p>
          <a:p>
            <a:pPr marL="546497" lvl="1" indent="-289322">
              <a:buFont typeface="+mj-lt"/>
              <a:buAutoNum type="alphaLcPeriod"/>
            </a:pPr>
            <a:r>
              <a:rPr lang="en-SG" dirty="0"/>
              <a:t>AWS Step Functions orchestrates the pipeline end-to-end: ingestion → crawler (raw)→ data quality → ETL → crawler (outputs). Failures route to SNS and are logged.</a:t>
            </a:r>
          </a:p>
          <a:p>
            <a:pPr marL="289322" indent="-289322">
              <a:buFont typeface="+mj-lt"/>
              <a:buAutoNum type="arabicPeriod" startAt="5"/>
            </a:pPr>
            <a:r>
              <a:rPr lang="en-SG" dirty="0"/>
              <a:t>Query and Consumption</a:t>
            </a:r>
          </a:p>
          <a:p>
            <a:pPr marL="546497" lvl="1" indent="-289322">
              <a:buFont typeface="+mj-lt"/>
              <a:buAutoNum type="alphaLcPeriod"/>
            </a:pPr>
            <a:r>
              <a:rPr lang="en-SG" dirty="0"/>
              <a:t>Amazon Athena queries the processed data in S3 using the Glue Data </a:t>
            </a:r>
            <a:r>
              <a:rPr lang="en-SG" dirty="0" err="1"/>
              <a:t>Catalog</a:t>
            </a:r>
            <a:r>
              <a:rPr lang="en-SG" dirty="0"/>
              <a:t> for schema.</a:t>
            </a:r>
          </a:p>
          <a:p>
            <a:pPr marL="546497" lvl="1" indent="-289322">
              <a:buFont typeface="+mj-lt"/>
              <a:buAutoNum type="alphaLcPeriod"/>
            </a:pPr>
            <a:r>
              <a:rPr lang="en-SG" dirty="0"/>
              <a:t>The Data Science Team's Tableau Server connects to Athena using the built-</a:t>
            </a:r>
            <a:r>
              <a:rPr lang="en-SG" dirty="0" err="1"/>
              <a:t>inAthena</a:t>
            </a:r>
            <a:r>
              <a:rPr lang="en-SG" dirty="0"/>
              <a:t> connector, enabling visual exploration and dashboarding.</a:t>
            </a:r>
          </a:p>
          <a:p>
            <a:pPr marL="546497" lvl="1" indent="-289322">
              <a:buFont typeface="+mj-lt"/>
              <a:buAutoNum type="alphaLcPeriod"/>
            </a:pPr>
            <a:r>
              <a:rPr lang="en-SG" dirty="0"/>
              <a:t>Network access is provided via AWS </a:t>
            </a:r>
            <a:r>
              <a:rPr lang="en-SG" dirty="0" err="1"/>
              <a:t>PrivateLink</a:t>
            </a:r>
            <a:r>
              <a:rPr lang="en-SG" dirty="0"/>
              <a:t> between the Data Science VPC and the HDB VPC, so the connection does </a:t>
            </a:r>
            <a:r>
              <a:rPr lang="en-SG"/>
              <a:t>not traverse the public internet.</a:t>
            </a:r>
            <a:endParaRPr lang="en-SG" dirty="0"/>
          </a:p>
          <a:p>
            <a:pPr marL="546497" lvl="1" indent="-289322">
              <a:buFont typeface="+mj-lt"/>
              <a:buAutoNum type="alphaLcPeriod"/>
            </a:pPr>
            <a:r>
              <a:rPr lang="en-SG" dirty="0"/>
              <a:t>AWS Lake Formation provides fine-grained access control on Glue </a:t>
            </a:r>
            <a:r>
              <a:rPr lang="en-SG" dirty="0" err="1"/>
              <a:t>Catalog</a:t>
            </a:r>
            <a:r>
              <a:rPr lang="en-SG" dirty="0"/>
              <a:t> tables, ensuring the Data Science Team can only query authorised datasets.</a:t>
            </a:r>
          </a:p>
          <a:p>
            <a:pPr marL="546497" lvl="1" indent="-289322">
              <a:buFont typeface="+mj-lt"/>
              <a:buAutoNum type="alphaLcPeriod"/>
            </a:pPr>
            <a:endParaRPr lang="en-SG" dirty="0"/>
          </a:p>
          <a:p>
            <a:pPr marL="546497" lvl="1" indent="-289322">
              <a:buFont typeface="+mj-lt"/>
              <a:buAutoNum type="alphaL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0883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24B50-9B5A-5115-A8C4-4339891C9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032BD-EEA6-1EE5-4AAE-936F769506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9322" indent="-289322">
              <a:buFont typeface="+mj-lt"/>
              <a:buAutoNum type="arabicPeriod" startAt="7"/>
            </a:pPr>
            <a:r>
              <a:rPr lang="en-US" dirty="0"/>
              <a:t>Networking</a:t>
            </a:r>
          </a:p>
          <a:p>
            <a:pPr marL="546497" lvl="1" indent="-289322">
              <a:buFont typeface="+mj-lt"/>
              <a:buAutoNum type="alphaLcPeriod"/>
            </a:pPr>
            <a:r>
              <a:rPr lang="en-SG" dirty="0"/>
              <a:t>HDB's data platform resides in private VPCs. Compute runs in private subnets with no public IPs.</a:t>
            </a:r>
          </a:p>
          <a:p>
            <a:pPr marL="546497" lvl="1" indent="-289322">
              <a:buFont typeface="+mj-lt"/>
              <a:buAutoNum type="alphaLcPeriod"/>
            </a:pPr>
            <a:r>
              <a:rPr lang="en-SG" dirty="0"/>
              <a:t>Outbound internet access (for downloading from </a:t>
            </a:r>
            <a:r>
              <a:rPr lang="en-SG" dirty="0" err="1"/>
              <a:t>data.gov.sg</a:t>
            </a:r>
            <a:r>
              <a:rPr lang="en-SG" dirty="0"/>
              <a:t>) is provided via a NAT Gateway.</a:t>
            </a:r>
          </a:p>
          <a:p>
            <a:pPr marL="546497" lvl="1" indent="-289322">
              <a:buFont typeface="+mj-lt"/>
              <a:buAutoNum type="alphaLcPeriod"/>
            </a:pPr>
            <a:r>
              <a:rPr lang="en-SG" dirty="0"/>
              <a:t>S3 and Athena access uses VPC Endpoints, keeping traffic private.</a:t>
            </a:r>
          </a:p>
          <a:p>
            <a:pPr marL="546497" lvl="1" indent="-289322">
              <a:buFont typeface="+mj-lt"/>
              <a:buAutoNum type="alphaLcPeriod"/>
            </a:pPr>
            <a:r>
              <a:rPr lang="en-SG" dirty="0"/>
              <a:t>The Data Science VPC connects to Athena via AWS </a:t>
            </a:r>
            <a:r>
              <a:rPr lang="en-SG" dirty="0" err="1"/>
              <a:t>PrivateLink</a:t>
            </a:r>
            <a:r>
              <a:rPr lang="en-SG" dirty="0"/>
              <a:t> — traffic never traverses the public internet.</a:t>
            </a:r>
          </a:p>
          <a:p>
            <a:pPr marL="546497" lvl="1" indent="-289322">
              <a:buFont typeface="+mj-lt"/>
              <a:buAutoNum type="alphaL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2284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84A8A8-70A9-6B47-8809-6F15F05D9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68C5A-9763-A6C7-D9F5-DC73F1206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 Assumptions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120F4-EB78-316B-21FE-67B6E0B940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289322" indent="-289322">
              <a:buFont typeface="+mj-lt"/>
              <a:buAutoNum type="arabicPeriod" startAt="8"/>
            </a:pPr>
            <a:r>
              <a:rPr lang="en-US" dirty="0"/>
              <a:t>Security</a:t>
            </a:r>
          </a:p>
          <a:p>
            <a:pPr marL="546497" lvl="1" indent="-289322">
              <a:buFont typeface="+mj-lt"/>
              <a:buAutoNum type="alphaLcPeriod"/>
            </a:pPr>
            <a:r>
              <a:rPr lang="en-SG" dirty="0"/>
              <a:t>All S3 buckets use SSE-KMS encryption at rest, with customer-managed keys.</a:t>
            </a:r>
          </a:p>
          <a:p>
            <a:pPr marL="546497" lvl="1" indent="-289322">
              <a:buFont typeface="+mj-lt"/>
              <a:buAutoNum type="alphaLcPeriod"/>
            </a:pPr>
            <a:r>
              <a:rPr lang="en-SG" dirty="0"/>
              <a:t>All service-to-service communication uses TLS in transit.</a:t>
            </a:r>
          </a:p>
          <a:p>
            <a:pPr marL="546497" lvl="1" indent="-289322">
              <a:buFont typeface="+mj-lt"/>
              <a:buAutoNum type="alphaLcPeriod"/>
            </a:pPr>
            <a:r>
              <a:rPr lang="en-SG" dirty="0"/>
              <a:t>Amazon GuardDuty continuously monitors for threats using CloudTrail, VPC Flow Logs, and DNS logs.</a:t>
            </a:r>
          </a:p>
          <a:p>
            <a:pPr marL="546497" lvl="1" indent="-289322">
              <a:buFont typeface="+mj-lt"/>
              <a:buAutoNum type="alphaLcPeriod"/>
            </a:pPr>
            <a:r>
              <a:rPr lang="en-SG" dirty="0"/>
              <a:t>AWS Security Hub aggregates security findings into a central dashboard.</a:t>
            </a:r>
          </a:p>
          <a:p>
            <a:pPr marL="546497" lvl="1" indent="-289322">
              <a:buFont typeface="+mj-lt"/>
              <a:buAutoNum type="alphaLcPeriod"/>
            </a:pPr>
            <a:r>
              <a:rPr lang="en-SG" dirty="0"/>
              <a:t>AWS CloudTrail logs all API activity for audit and compliance.</a:t>
            </a:r>
          </a:p>
          <a:p>
            <a:pPr marL="289322" indent="-289322">
              <a:buFont typeface="+mj-lt"/>
              <a:buAutoNum type="arabicPeriod" startAt="8"/>
            </a:pPr>
            <a:r>
              <a:rPr lang="en-SG" dirty="0"/>
              <a:t>Observability</a:t>
            </a:r>
          </a:p>
          <a:p>
            <a:pPr marL="546497" lvl="1" indent="-289322">
              <a:buFont typeface="+mj-lt"/>
              <a:buAutoNum type="alphaLcPeriod"/>
            </a:pPr>
            <a:r>
              <a:rPr lang="en-SG" dirty="0"/>
              <a:t>Amazon CloudWatch collects logs and metrics from Lambda, Glue, Step Functions, and Athena.</a:t>
            </a:r>
          </a:p>
          <a:p>
            <a:pPr marL="546497" lvl="1" indent="-289322">
              <a:buFont typeface="+mj-lt"/>
              <a:buAutoNum type="alphaLcPeriod"/>
            </a:pPr>
            <a:r>
              <a:rPr lang="en-SG" dirty="0"/>
              <a:t>CloudWatch Alarms trigger on key failures (ingestion, data quality, ETL) and route to SNS for notification.</a:t>
            </a:r>
          </a:p>
          <a:p>
            <a:pPr marL="546497" lvl="1" indent="-289322">
              <a:buFont typeface="+mj-lt"/>
              <a:buAutoNum type="alphaLcPeriod"/>
            </a:pPr>
            <a:r>
              <a:rPr lang="en-SG" dirty="0"/>
              <a:t>A CloudWatch dashboard provides an at-a-glance operational view of pipeline health.</a:t>
            </a:r>
          </a:p>
          <a:p>
            <a:pPr marL="546497" lvl="1" indent="-289322">
              <a:buFont typeface="+mj-lt"/>
              <a:buAutoNum type="alphaLcPeriod"/>
            </a:pPr>
            <a:endParaRPr lang="en-SG" dirty="0"/>
          </a:p>
          <a:p>
            <a:pPr marL="546497" lvl="1" indent="-289322">
              <a:buFont typeface="+mj-lt"/>
              <a:buAutoNum type="alphaL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80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584</TotalTime>
  <Words>687</Words>
  <Application>Microsoft Macintosh PowerPoint</Application>
  <PresentationFormat>A4 Paper (210x297 mm)</PresentationFormat>
  <Paragraphs>95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HDB Technical Test for Senior Data Engineer</vt:lpstr>
      <vt:lpstr>Part 2: Architecting Data Ingestion and Data Exploitation Solution Patterns</vt:lpstr>
      <vt:lpstr>Architecture Assumptions</vt:lpstr>
      <vt:lpstr>Architecture Assumptions</vt:lpstr>
      <vt:lpstr>Architecture Assumptions</vt:lpstr>
      <vt:lpstr>Architecture Assumptions</vt:lpstr>
      <vt:lpstr>Architecture Assumptions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Amy Shen</dc:creator>
  <cp:lastModifiedBy>Amy Shen</cp:lastModifiedBy>
  <cp:revision>48</cp:revision>
  <dcterms:created xsi:type="dcterms:W3CDTF">2026-09-15T06:09:37Z</dcterms:created>
  <dcterms:modified xsi:type="dcterms:W3CDTF">2026-09-15T15:58:23Z</dcterms:modified>
</cp:coreProperties>
</file>